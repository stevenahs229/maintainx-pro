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-914400"/>
            <a:ext cx="3657600" cy="365760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4572000"/>
            <a:ext cx="3657600" cy="3657600"/>
          </a:xfrm>
          <a:prstGeom prst="rect">
            <a:avLst/>
          </a:prstGeom>
          <a:solidFill>
            <a:srgbClr val="159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MaintainX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AEAEB2"/>
                </a:solidFill>
                <a:latin typeface="Calibri"/>
              </a:defRPr>
            </a:pPr>
            <a:r>
              <a:t>Smart Industrial Maintenance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6868B"/>
                </a:solidFill>
                <a:latin typeface="Calibri"/>
              </a:defRPr>
            </a:pPr>
            <a:r>
              <a:t>Smart Industrial Asset Intelligence &amp; Spare Parts Innovation Hackathon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 la panne signalée à la pièce commandée — en un seul flux.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Le constat terrain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Pourquoi la maintenance industrielle mérite mieux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Calibri"/>
              </a:defRPr>
            </a:pPr>
            <a:r>
              <a:t>Pannes signalées par téléphone, WhatsApp ou papier → perte d'information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Calibri"/>
              </a:defRPr>
            </a:pPr>
            <a:r>
              <a:t>Aucune preuve visuelle systématique → diagnostics plus lents et litiges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Calibri"/>
              </a:defRPr>
            </a:pPr>
            <a:r>
              <a:t>Workflow opaque : qui fait quoi, où en est la pièce détachée ?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Calibri"/>
              </a:defRPr>
            </a:pPr>
            <a:r>
              <a:t>Managers sans vision temps réel du parc et des risques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Calibri"/>
              </a:defRPr>
            </a:pPr>
            <a:r>
              <a:t>Clients industriels exclus du suivi de leurs propres équipements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63040"/>
            <a:ext cx="4754880" cy="4389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73736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D1BFF"/>
                </a:solidFill>
                <a:latin typeface="Calibri"/>
              </a:defRPr>
            </a:pPr>
            <a:r>
              <a:t>Impact chiffré (industrie)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D1D1F"/>
                </a:solidFill>
                <a:latin typeface="Calibri"/>
              </a:defRPr>
            </a:pPr>
            <a:r>
              <a:t>−30 à 45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28600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perdues par panne</a:t>
            </a:r>
            <a:br/>
            <a:r>
              <a:t>(saisie + recherche d'info)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52044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D1D1F"/>
                </a:solidFill>
                <a:latin typeface="Calibri"/>
              </a:defRPr>
            </a:pPr>
            <a:r>
              <a:t>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5204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délai si pièce</a:t>
            </a:r>
            <a:br/>
            <a:r>
              <a:t>mal référencée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75488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D1D1F"/>
                </a:solidFill>
                <a:latin typeface="Calibri"/>
              </a:defRPr>
            </a:pPr>
            <a:r>
              <a:t>60 %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75488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des arrêts évitables</a:t>
            </a:r>
            <a:br/>
            <a:r>
              <a:t>avec maintenance prédictive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Notre réponse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Une plateforme PWA tout-en-un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651760" cy="44805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002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0">
                <a:solidFill>
                  <a:srgbClr val="1D1D1F"/>
                </a:solidFill>
                <a:latin typeface="Calibri"/>
              </a:defRPr>
            </a:pPr>
            <a:r>
              <a:t>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Calibri"/>
              </a:defRPr>
            </a:pPr>
            <a:r>
              <a:t>Capture visuelle guidée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4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E6E73"/>
                </a:solidFill>
                <a:latin typeface="Calibri"/>
              </a:defRPr>
            </a:pPr>
            <a:r>
              <a:t>Scan multi-angles, preuves obligatoires, pré-diagnostic assisté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417320"/>
            <a:ext cx="2651760" cy="44805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0">
                <a:solidFill>
                  <a:srgbClr val="1D1D1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Calibri"/>
              </a:defRPr>
            </a:pPr>
            <a:r>
              <a:t>Workflow Kanban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3464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E6E73"/>
                </a:solidFill>
                <a:latin typeface="Calibri"/>
              </a:defRPr>
            </a:pPr>
            <a:r>
              <a:t>7 étapes de la panne à la clôture, drag &amp; drop intuitif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2651760" cy="44805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0">
                <a:solidFill>
                  <a:srgbClr val="1D1D1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Calibri"/>
              </a:defRPr>
            </a:pPr>
            <a:r>
              <a:t>Pièces détachées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E6E73"/>
                </a:solidFill>
                <a:latin typeface="Calibri"/>
              </a:defRPr>
            </a:pPr>
            <a:r>
              <a:t>Commande, réception, installation — liées à chaque panne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417320"/>
            <a:ext cx="2651760" cy="44805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002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0">
                <a:solidFill>
                  <a:srgbClr val="1D1D1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1031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D1D1F"/>
                </a:solidFill>
                <a:latin typeface="Calibri"/>
              </a:defRPr>
            </a:pPr>
            <a:r>
              <a:t>Intelligence opérationnelle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834640"/>
            <a:ext cx="2286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E6E73"/>
                </a:solidFill>
                <a:latin typeface="Calibri"/>
              </a:defRPr>
            </a:pPr>
            <a:r>
              <a:t>Health score, dashboard KPI, jumeau 2D/3D des chantiers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Alignement brief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100 % des exigences couvertes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3716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Calibri"/>
              </a:defRPr>
            </a:pPr>
            <a:r>
              <a:t>Capture visuelle (obligatoire)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Module /scan : caméra PWA, scan guidé 6 étapes, fallback import 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3716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Calibri"/>
              </a:defRPr>
            </a:pPr>
            <a:r>
              <a:t>Gestion des pannes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48840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CRUD complet, priorités, commentaires, historique, images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13716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Calibri"/>
              </a:defRPr>
            </a:pPr>
            <a:r>
              <a:t>Pièces détachées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34640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Suivi commande → reçu → installé, lié aux pannes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20440"/>
            <a:ext cx="13716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520440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Kanban 7 colonnes avec notifications automatiques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13716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Calibri"/>
              </a:defRPr>
            </a:pPr>
            <a:r>
              <a:t>Multi-utilisateurs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206240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4 rôles : Admin, Manager, Technicien, 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4 espaces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Une interface adaptée à chaque acteur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651760" cy="73152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D1BFF"/>
                </a:solidFill>
                <a:latin typeface="Calibri"/>
              </a:defRPr>
            </a:pPr>
            <a:r>
              <a:t>Administrateur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3774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Centre de contrôle, utilisateurs, entreprises, audit, supervision globale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417320"/>
            <a:ext cx="2651760" cy="73152"/>
          </a:xfrm>
          <a:prstGeom prst="rect">
            <a:avLst/>
          </a:prstGeom>
          <a:solidFill>
            <a:srgbClr val="0E7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6002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7E96"/>
                </a:solidFill>
                <a:latin typeface="Calibri"/>
              </a:defRPr>
            </a:pPr>
            <a:r>
              <a:t>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011680"/>
            <a:ext cx="23774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Dashboard KPI, Kanban, équipements, activité temps réel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2651760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71E3"/>
                </a:solidFill>
                <a:latin typeface="Calibri"/>
              </a:defRPr>
            </a:pPr>
            <a:r>
              <a:t>Technicien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23774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Mes interventions, calendrier, scan terrain, pièces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417320"/>
            <a:ext cx="26517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6002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011680"/>
            <a:ext cx="23774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E6E73"/>
                </a:solidFill>
                <a:latin typeface="Calibri"/>
              </a:defRPr>
            </a:pPr>
            <a:r>
              <a:t>Portail dédié, déclaration panne, suivi demandes, onboarding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Module Capture Visuelle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Cœur du brief — démo live recommandée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  <a:latin typeface="Calibri"/>
              </a:defRPr>
            </a:pPr>
            <a:r>
              <a:t>1. Sélection équipement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  <a:latin typeface="Calibri"/>
              </a:defRPr>
            </a:pPr>
            <a:r>
              <a:t>2. Scan guidé multi-angles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  <a:latin typeface="Calibri"/>
              </a:defRPr>
            </a:pPr>
            <a:r>
              <a:t>3. Pré-diagnostic IA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  <a:latin typeface="Calibri"/>
              </a:defRPr>
            </a:pPr>
            <a:r>
              <a:t>4. Déclaration panne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  <a:latin typeface="Calibri"/>
              </a:defRPr>
            </a:pPr>
            <a:r>
              <a:t>5. Suivi Kanban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E6E73"/>
                </a:solidFill>
                <a:latin typeface="Calibri"/>
              </a:defRPr>
            </a:pPr>
            <a:r>
              <a:t>Réticule + ligne de balayage animée</a:t>
            </a:r>
          </a:p>
          <a:p>
            <a:pPr>
              <a:spcAft>
                <a:spcPts val="800"/>
              </a:spcAft>
              <a:defRPr sz="1400">
                <a:solidFill>
                  <a:srgbClr val="6E6E73"/>
                </a:solidFill>
                <a:latin typeface="Calibri"/>
              </a:defRPr>
            </a:pPr>
            <a:r>
              <a:t>6 étapes : face, profils, plaque, zone défaut…</a:t>
            </a:r>
          </a:p>
          <a:p>
            <a:pPr>
              <a:spcAft>
                <a:spcPts val="800"/>
              </a:spcAft>
              <a:defRPr sz="1400">
                <a:solidFill>
                  <a:srgbClr val="6E6E73"/>
                </a:solidFill>
                <a:latin typeface="Calibri"/>
              </a:defRPr>
            </a:pPr>
            <a:r>
              <a:t>Preuve visuelle obligatoire avant envoi</a:t>
            </a:r>
          </a:p>
          <a:p>
            <a:pPr>
              <a:spcAft>
                <a:spcPts val="800"/>
              </a:spcAft>
              <a:defRPr sz="1400">
                <a:solidFill>
                  <a:srgbClr val="6E6E73"/>
                </a:solidFill>
                <a:latin typeface="Calibri"/>
              </a:defRPr>
            </a:pPr>
            <a:r>
              <a:t>Fallback : import photo si pas de caméra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029200" cy="438912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Parcours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EAEB2"/>
                </a:solidFill>
                <a:latin typeface="Calibri"/>
              </a:defRPr>
            </a:pPr>
            <a:r>
              <a:t>Équipement → Caméra → Analyse → Panne créée → Kanban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11480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59BB6"/>
                </a:solidFill>
                <a:latin typeface="Calibri"/>
              </a:defRPr>
            </a:pPr>
            <a:r>
              <a:t>💡 Astuce démo : partir du Dashboard → Scanner → choisir « Compresseur à vis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Innovation : Pré-diagnostic assisté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L'IA qui accélère la première 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E6E73"/>
                </a:solidFill>
                <a:latin typeface="Calibri"/>
              </a:defRPr>
            </a:pPr>
            <a:r>
              <a:t>Heuristique intelligente combinant type d'équipement, health score et couverture du 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03520" cy="164592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4027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D1BFF"/>
                </a:solidFill>
                <a:latin typeface="Calibri"/>
              </a:defRPr>
            </a:pPr>
            <a:r>
              <a:t>Anomalie suggérée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39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D1D1F"/>
                </a:solidFill>
                <a:latin typeface="Calibri"/>
              </a:defRPr>
            </a:pPr>
            <a:r>
              <a:t>Ex : « Fuite hydraulique », « Usure roulement convoyeur 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303520" cy="164592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4027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D1BFF"/>
                </a:solidFill>
                <a:latin typeface="Calibri"/>
              </a:defRPr>
            </a:pPr>
            <a:r>
              <a:t>Gravité auto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39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D1D1F"/>
                </a:solidFill>
                <a:latin typeface="Calibri"/>
              </a:defRPr>
            </a:pPr>
            <a:r>
              <a:t>Critical / High / Medium selon health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5303520" cy="164592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2519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D1BFF"/>
                </a:solidFill>
                <a:latin typeface="Calibri"/>
              </a:defRPr>
            </a:pPr>
            <a:r>
              <a:t>Pièces probables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1772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D1D1F"/>
                </a:solidFill>
                <a:latin typeface="Calibri"/>
              </a:defRPr>
            </a:pPr>
            <a:r>
              <a:t>Joint SPI, capteur inductif, roulement…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114800"/>
            <a:ext cx="5303520" cy="164592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D1BFF"/>
                </a:solidFill>
                <a:latin typeface="Calibri"/>
              </a:defRPr>
            </a:pPr>
            <a:r>
              <a:t>Score confiance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61772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D1D1F"/>
                </a:solidFill>
                <a:latin typeface="Calibri"/>
              </a:defRPr>
            </a:pPr>
            <a:r>
              <a:t>Jusqu'à 96 % selon clichés + état machine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Workflow bout-en-bout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De la panne à la pièce installée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Soumis → Analyse → Inspection → Validation → Fabrication → Livraison → Clôturé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D1D1F"/>
                </a:solidFill>
                <a:latin typeface="Calibri"/>
              </a:defRPr>
            </a:pPr>
            <a:r>
              <a:t>Kanban drag &amp; drop (style Trello)</a:t>
            </a:r>
          </a:p>
          <a:p>
            <a:pPr>
              <a:spcAft>
                <a:spcPts val="800"/>
              </a:spcAft>
              <a:defRPr sz="1500">
                <a:solidFill>
                  <a:srgbClr val="1D1D1F"/>
                </a:solidFill>
                <a:latin typeface="Calibri"/>
              </a:defRPr>
            </a:pPr>
            <a:r>
              <a:t>Chaque déplacement = notification temps réel</a:t>
            </a:r>
          </a:p>
          <a:p>
            <a:pPr>
              <a:spcAft>
                <a:spcPts val="800"/>
              </a:spcAft>
              <a:defRPr sz="1500">
                <a:solidFill>
                  <a:srgbClr val="1D1D1F"/>
                </a:solidFill>
                <a:latin typeface="Calibri"/>
              </a:defRPr>
            </a:pPr>
            <a:r>
              <a:t>Fiche panne : commentaires, images, pièces liées</a:t>
            </a:r>
          </a:p>
          <a:p>
            <a:pPr>
              <a:spcAft>
                <a:spcPts val="800"/>
              </a:spcAft>
              <a:defRPr sz="1500">
                <a:solidFill>
                  <a:srgbClr val="1D1D1F"/>
                </a:solidFill>
                <a:latin typeface="Calibri"/>
              </a:defRPr>
            </a:pPr>
            <a:r>
              <a:t>Pièces : En attente → Commandé → Reçu → Installé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D1D1F"/>
                </a:solidFill>
                <a:latin typeface="Calibri"/>
              </a:defRPr>
            </a:pPr>
            <a:r>
              <a:t>Données de démo pré-chargées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004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E6E73"/>
                </a:solidFill>
                <a:latin typeface="Calibri"/>
              </a:defRPr>
            </a:pPr>
            <a:r>
              <a:t>6 équipements industriels réalistes</a:t>
            </a:r>
          </a:p>
          <a:p>
            <a:pPr>
              <a:spcAft>
                <a:spcPts val="800"/>
              </a:spcAft>
              <a:defRPr sz="1300">
                <a:solidFill>
                  <a:srgbClr val="6E6E73"/>
                </a:solidFill>
                <a:latin typeface="Calibri"/>
              </a:defRPr>
            </a:pPr>
            <a:r>
              <a:t>5 pannes à différents statuts</a:t>
            </a:r>
          </a:p>
          <a:p>
            <a:pPr>
              <a:spcAft>
                <a:spcPts val="800"/>
              </a:spcAft>
              <a:defRPr sz="1300">
                <a:solidFill>
                  <a:srgbClr val="6E6E73"/>
                </a:solidFill>
                <a:latin typeface="Calibri"/>
              </a:defRPr>
            </a:pPr>
            <a:r>
              <a:t>3 pièces en cours de commande</a:t>
            </a:r>
          </a:p>
          <a:p>
            <a:pPr>
              <a:spcAft>
                <a:spcPts val="800"/>
              </a:spcAft>
              <a:defRPr sz="1300">
                <a:solidFill>
                  <a:srgbClr val="6E6E73"/>
                </a:solidFill>
                <a:latin typeface="Calibri"/>
              </a:defRPr>
            </a:pPr>
            <a:r>
              <a:t>4 utilisateurs de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Jumeau numérique des chantiers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Vue 2D / 3D isométrique du parc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D1D1F"/>
                </a:solidFill>
                <a:latin typeface="Calibri"/>
              </a:defRPr>
            </a:pPr>
            <a:r>
              <a:t>Cartographie des bâtiments et zones (A, B, C, D)</a:t>
            </a:r>
          </a:p>
          <a:p>
            <a:pPr>
              <a:spcAft>
                <a:spcPts val="800"/>
              </a:spcAft>
              <a:defRPr sz="1500">
                <a:solidFill>
                  <a:srgbClr val="1D1D1F"/>
                </a:solidFill>
                <a:latin typeface="Calibri"/>
              </a:defRPr>
            </a:pPr>
            <a:r>
              <a:t>Équipements positionnés avec code couleur sévérité</a:t>
            </a:r>
          </a:p>
          <a:p>
            <a:pPr>
              <a:spcAft>
                <a:spcPts val="800"/>
              </a:spcAft>
              <a:defRPr sz="1500">
                <a:solidFill>
                  <a:srgbClr val="1D1D1F"/>
                </a:solidFill>
                <a:latin typeface="Calibri"/>
              </a:defRPr>
            </a:pPr>
            <a:r>
              <a:t>Pannes critiques visibles en un coup d'œil</a:t>
            </a:r>
          </a:p>
          <a:p>
            <a:pPr>
              <a:spcAft>
                <a:spcPts val="800"/>
              </a:spcAft>
              <a:defRPr sz="1500">
                <a:solidFill>
                  <a:srgbClr val="1D1D1F"/>
                </a:solidFill>
                <a:latin typeface="Calibri"/>
              </a:defRPr>
            </a:pPr>
            <a:r>
              <a:t>Clic → détail équipement ou lancement scan direct</a:t>
            </a:r>
          </a:p>
          <a:p>
            <a:pPr>
              <a:spcAft>
                <a:spcPts val="800"/>
              </a:spcAft>
              <a:defRPr sz="1500">
                <a:solidFill>
                  <a:srgbClr val="1D1D1F"/>
                </a:solidFill>
                <a:latin typeface="Calibri"/>
              </a:defRPr>
            </a:pPr>
            <a:r>
              <a:t>Projection isométrique 3D calculée en temps réel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63040"/>
            <a:ext cx="4754880" cy="41148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286000"/>
            <a:ext cx="4206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Différenciant hackathon :</a:t>
            </a:r>
            <a:br/>
            <a:r>
              <a:t>visualisation spatiale</a:t>
            </a:r>
            <a:br/>
            <a:r>
              <a:t>+ maintenance terrain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Pilotage &amp; Health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Décisions basées sur les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265176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D1BFF"/>
                </a:solidFill>
                <a:latin typeface="Calibri"/>
              </a:defRPr>
            </a:pPr>
            <a:r>
              <a:t>Health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E6E73"/>
                </a:solidFill>
                <a:latin typeface="Calibri"/>
              </a:defRPr>
            </a:pPr>
            <a:r>
              <a:t>0–100 par équipement, calculé dynamiquement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463040"/>
            <a:ext cx="265176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D1BFF"/>
                </a:solidFill>
                <a:latin typeface="Calibri"/>
              </a:defRPr>
            </a:pPr>
            <a:r>
              <a:t>KPIs temps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E6E73"/>
                </a:solidFill>
                <a:latin typeface="Calibri"/>
              </a:defRPr>
            </a:pPr>
            <a:r>
              <a:t>Pannes ouvertes, critiques, pièces en attente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265176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D1BFF"/>
                </a:solidFill>
                <a:latin typeface="Calibri"/>
              </a:defRPr>
            </a:pPr>
            <a:r>
              <a:t>Graphiques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E6E73"/>
                </a:solidFill>
                <a:latin typeface="Calibri"/>
              </a:defRPr>
            </a:pPr>
            <a:r>
              <a:t>Répartition par statut, tendances (Recharts)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463040"/>
            <a:ext cx="265176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645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D1B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14884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E6E73"/>
                </a:solidFill>
                <a:latin typeface="Calibri"/>
              </a:defRPr>
            </a:pPr>
            <a:r>
              <a:t>Multi-entreprises, journal d'audit, utilisateurs en ligne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D1D1F"/>
                </a:solidFill>
                <a:latin typeface="Calibri"/>
              </a:defRPr>
            </a:pPr>
            <a:r>
              <a:t>PWA installable · Mode clair / sombre · Notifications activité</a:t>
            </a:r>
          </a:p>
          <a:p>
            <a:pPr>
              <a:spcAft>
                <a:spcPts val="800"/>
              </a:spcAft>
              <a:defRPr sz="1400">
                <a:solidFill>
                  <a:srgbClr val="1D1D1F"/>
                </a:solidFill>
                <a:latin typeface="Calibri"/>
              </a:defRPr>
            </a:pPr>
            <a:r>
              <a:t>Fonctionne offline (Service Worker + cache API)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Full-stack TypeScript, déployé en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2011680" cy="59436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7276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D1D1F"/>
                </a:solidFill>
                <a:latin typeface="Calibri"/>
              </a:defRPr>
            </a:pPr>
            <a:r>
              <a:t>React 19 · TypeScript · Vite 8 · Tailwind · PWA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2011680" cy="59436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500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5000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D1D1F"/>
                </a:solidFill>
                <a:latin typeface="Calibri"/>
              </a:defRPr>
            </a:pPr>
            <a:r>
              <a:t>Node.js · Express · API REST · Auth JWT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2011680" cy="59436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272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2724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D1D1F"/>
                </a:solidFill>
                <a:latin typeface="Calibri"/>
              </a:defRPr>
            </a:pPr>
            <a:r>
              <a:t>SQLite (sql.js) · Seed automatique · Migrations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94760"/>
            <a:ext cx="2011680" cy="59436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044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904488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D1D1F"/>
                </a:solidFill>
                <a:latin typeface="Calibri"/>
              </a:defRPr>
            </a:pPr>
            <a:r>
              <a:t>Netlify (frontend + serverless functions)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D1BFF"/>
                </a:solidFill>
                <a:latin typeface="Calibri"/>
              </a:defRPr>
            </a:pPr>
            <a:r>
              <a:t>Développé en 48h · Monorepo · 20+ pages · API complète · Démo live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Démo live — Script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maintanxpro.netlify.app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" cy="50292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087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D1D1F"/>
                </a:solidFill>
                <a:latin typeface="Calibri"/>
              </a:defRPr>
            </a:pPr>
            <a:r>
              <a:t>Connexion admin@maintainx.com / demo1234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75688"/>
            <a:ext cx="1005840" cy="50292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671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D1D1F"/>
                </a:solidFill>
                <a:latin typeface="Calibri"/>
              </a:defRPr>
            </a:pPr>
            <a:r>
              <a:t>Dashboard → KPIs + équipements à risque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34056"/>
            <a:ext cx="1005840" cy="50292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25496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254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D1D1F"/>
                </a:solidFill>
                <a:latin typeface="Calibri"/>
              </a:defRPr>
            </a:pPr>
            <a:r>
              <a:t>Scan → Compresseur → capture → pré-diagnostic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92424"/>
            <a:ext cx="1005840" cy="50292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83864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483864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D1D1F"/>
                </a:solidFill>
                <a:latin typeface="Calibri"/>
              </a:defRPr>
            </a:pPr>
            <a:r>
              <a:t>Kanban → glisser une panne vers « Inspection 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50791"/>
            <a:ext cx="1005840" cy="50292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42231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142231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D1D1F"/>
                </a:solidFill>
                <a:latin typeface="Calibri"/>
              </a:defRPr>
            </a:pPr>
            <a:r>
              <a:t>Pièces → commander une pièce détachée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9159"/>
            <a:ext cx="1005840" cy="502920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00599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2:45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00599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D1D1F"/>
                </a:solidFill>
                <a:latin typeface="Calibri"/>
              </a:defRPr>
            </a:pPr>
            <a:r>
              <a:t>Chantiers 3D → vue spatiale + clic équipement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6E6E73"/>
                </a:solidFill>
                <a:latin typeface="Calibri"/>
              </a:defRPr>
            </a:pPr>
            <a:r>
              <a:t>Comptes démo : Admin · Sophie (Manager) · Thomas (Technicien) · Marie (Client) — mot de passe : demo1234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Valeur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Ce que MaintainX Pro apporte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51760" cy="32004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4D1BFF"/>
                </a:solidFill>
                <a:latin typeface="Calibri"/>
              </a:defRPr>
            </a:pPr>
            <a:r>
              <a:t>−40 %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2608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E6E73"/>
                </a:solidFill>
                <a:latin typeface="Calibri"/>
              </a:defRPr>
            </a:pPr>
            <a:r>
              <a:t>temps de qualification</a:t>
            </a:r>
            <a:br/>
            <a:r>
              <a:t>initial d'une panne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554480"/>
            <a:ext cx="2651760" cy="32004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4D1BFF"/>
                </a:solidFill>
                <a:latin typeface="Calibri"/>
              </a:defRPr>
            </a:pPr>
            <a:r>
              <a:t>100 %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E6E73"/>
                </a:solidFill>
                <a:latin typeface="Calibri"/>
              </a:defRPr>
            </a:pPr>
            <a:r>
              <a:t>des déclarations</a:t>
            </a:r>
            <a:br/>
            <a:r>
              <a:t>avec preuve visuelle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2651760" cy="32004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4D1BFF"/>
                </a:solidFill>
                <a:latin typeface="Calibri"/>
              </a:defRPr>
            </a:pPr>
            <a:r>
              <a:t>1 plateforme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E6E73"/>
                </a:solidFill>
                <a:latin typeface="Calibri"/>
              </a:defRPr>
            </a:pPr>
            <a:r>
              <a:t>pour 4 profils métier</a:t>
            </a:r>
            <a:br/>
            <a:r>
              <a:t>distincts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554480"/>
            <a:ext cx="2651760" cy="32004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4D1BFF"/>
                </a:solidFill>
                <a:latin typeface="Calibri"/>
              </a:defRPr>
            </a:pPr>
            <a:r>
              <a:t>0 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92608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E6E73"/>
                </a:solidFill>
                <a:latin typeface="Calibri"/>
              </a:defRPr>
            </a:pPr>
            <a:r>
              <a:t>PWA accessible</a:t>
            </a:r>
            <a:br/>
            <a:r>
              <a:t>sur mobile terrain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D1D1F"/>
                </a:solidFill>
                <a:latin typeface="Calibri"/>
              </a:defRPr>
            </a:pPr>
            <a:r>
              <a:t>Vision : intégrer un vrai modèle de vision par ordinateur + maintenance prédictive IoT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1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D1D1F"/>
                </a:solidFill>
                <a:latin typeface="Calibri"/>
              </a:defRPr>
            </a:pPr>
            <a:r>
              <a:t>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E6E73"/>
                </a:solidFill>
                <a:latin typeface="Calibri"/>
              </a:defRPr>
            </a:pPr>
            <a:r>
              <a:t>Au-delà du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D1BFF"/>
                </a:solidFill>
                <a:latin typeface="Calibri"/>
              </a:defRPr>
            </a:pPr>
            <a:r>
              <a:t>Court terme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D1D1F"/>
                </a:solidFill>
                <a:latin typeface="Calibri"/>
              </a:defRPr>
            </a:pPr>
            <a:r>
              <a:t>Modèle CV réel (détection défauts), notifications push, export PDF rapports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D1BFF"/>
                </a:solidFill>
                <a:latin typeface="Calibri"/>
              </a:defRPr>
            </a:pPr>
            <a:r>
              <a:t>Moyen terme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7744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D1D1F"/>
                </a:solidFill>
                <a:latin typeface="Calibri"/>
              </a:defRPr>
            </a:pPr>
            <a:r>
              <a:t>Connecteurs ERP/SAP, capteurs IoT → health score prédictif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D1BFF"/>
                </a:solidFill>
                <a:latin typeface="Calibri"/>
              </a:defRPr>
            </a:pPr>
            <a:r>
              <a:t>Long terme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0040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D1D1F"/>
                </a:solidFill>
                <a:latin typeface="Calibri"/>
              </a:defRPr>
            </a:pPr>
            <a:r>
              <a:t>Marketplace pièces détachées, jumeau numérique BIM complet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1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Merci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E0DCFF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maintanxpro.netlify.app  ·  admin@maintainx.com / demo1234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